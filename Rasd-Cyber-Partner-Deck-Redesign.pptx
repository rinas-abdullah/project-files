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افتتاح" id="{6121184c-09a1-75d1-a5a5-e3f551dae58b}">
          <p14:sldIdLst>
            <p14:sldId id="256"/>
          </p14:sldIdLst>
        </p14:section>
        <p14:section name="المشكلة والفكرة" id="{42167639-c8e0-69c9-2e05-83776de80264}">
          <p14:sldIdLst>
            <p14:sldId id="257"/>
            <p14:sldId id="258"/>
          </p14:sldIdLst>
        </p14:section>
        <p14:section name="المنصة" id="{8e873a78-c7b4-8398-9f5a-25999ce7f2b5}">
          <p14:sldIdLst>
            <p14:sldId id="259"/>
            <p14:sldId id="260"/>
            <p14:sldId id="261"/>
            <p14:sldId id="262"/>
          </p14:sldIdLst>
        </p14:section>
        <p14:section name="الجاهزية والقيمة" id="{0610ef9f-9465-14f3-7740-c2a0ee4a948c}">
          <p14:sldIdLst>
            <p14:sldId id="263"/>
            <p14:sldId id="264"/>
          </p14:sldIdLst>
        </p14:section>
        <p14:section name="التعاون والخطوة التالية" id="{ffd09065-b778-23cf-e0ec-e77c66b8084d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Readiness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0E2A2"/>
              </a:solidFill>
              <a:ln w="9525" cap="flat">
                <a:solidFill>
                  <a:srgbClr val="0D1D2E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1E3A52"/>
              </a:solidFill>
              <a:ln w="9525" cap="flat">
                <a:solidFill>
                  <a:srgbClr val="0D1D2E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score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82</c:v>
                </c:pt>
                <c:pt idx="1">
                  <c:v>18</c:v>
                </c:pt>
              </c:numCache>
            </c:numRef>
          </c:val>
        </c:ser>
        <c:firstSliceAng val="0"/>
        <c:holeSize val="7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HERO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LOSING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BRIEF ·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99855" y="6400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رصد سايبر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6156655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endParaRPr lang="en-US" sz="11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30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1645920" y="1481328"/>
            <a:ext cx="9997135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1500" dirty="0">
                <a:solidFill>
                  <a:schemeClr val="bg2"/>
                </a:solidFill>
              </a:defRPr>
            </a:lvl1pPr>
          </a:lstStyle>
          <a:p>
            <a:pPr algn="r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303520" y="64190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BRIEF ·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99855" y="6400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رصد سايبر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303520" y="64190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PARTNERSHIP DISCUSSION ·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99855" y="6400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رصد سايبر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303520" y="64190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303520" y="64190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adar motif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60120"/>
            <a:ext cx="4846320" cy="4846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0" y="141732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رصد سايبر</a:t>
            </a:r>
            <a:endParaRPr lang="en-US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5669280" y="26060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spc="8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RASD CYBER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669280" y="32918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خصم يتعلّم منك. تدريب يتكيّف معك. جاهزية يمكن قياسها.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9951415" y="4069080"/>
            <a:ext cx="1691640" cy="438912"/>
          </a:xfrm>
          <a:prstGeom prst="roundRect">
            <a:avLst>
              <a:gd name="adj" fmla="val 50000"/>
            </a:avLst>
          </a:prstGeom>
          <a:solidFill>
            <a:srgbClr val="20E2A2">
              <a:alpha val="15000"/>
            </a:srgbClr>
          </a:solidFill>
          <a:ln w="9525">
            <a:solidFill>
              <a:srgbClr val="20E2A2">
                <a:alpha val="60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951415" y="406908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20E2A2"/>
                </a:solidFill>
              </a:rPr>
              <a:t>خصم متكيّف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076895" y="4069080"/>
            <a:ext cx="1691640" cy="438912"/>
          </a:xfrm>
          <a:prstGeom prst="roundRect">
            <a:avLst>
              <a:gd name="adj" fmla="val 50000"/>
            </a:avLst>
          </a:prstGeom>
          <a:solidFill>
            <a:srgbClr val="5B9BFF">
              <a:alpha val="15000"/>
            </a:srgbClr>
          </a:solidFill>
          <a:ln w="9525">
            <a:solidFill>
              <a:srgbClr val="5B9BFF">
                <a:alpha val="6000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76895" y="406908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5B9BFF"/>
                </a:solidFill>
              </a:rPr>
              <a:t>قياس فعلي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02375" y="4069080"/>
            <a:ext cx="1691640" cy="438912"/>
          </a:xfrm>
          <a:prstGeom prst="roundRect">
            <a:avLst>
              <a:gd name="adj" fmla="val 50000"/>
            </a:avLst>
          </a:prstGeom>
          <a:solidFill>
            <a:srgbClr val="2EC8D8">
              <a:alpha val="15000"/>
            </a:srgbClr>
          </a:solidFill>
          <a:ln w="9525">
            <a:solidFill>
              <a:srgbClr val="2EC8D8">
                <a:alpha val="60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02375" y="406908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2EC8D8"/>
                </a:solidFill>
              </a:rPr>
              <a:t>حلقة مغلقة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669280" y="49377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عرض تعاون تقني لشركة أمن سيبراني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303520" y="64190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6156655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11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الهجوم يتغيّر كل ثانية. التدريب لا يزال ثابتًا.</a:t>
            </a:r>
            <a:endParaRPr lang="en-US" sz="30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1645920" y="1481328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المشكلة ليست نقص المحتوى؛ بل أن التدريب غالبًا لا يختبر القرار الحقيقي عندما يغيّر الخصم خطته.</a:t>
            </a:r>
            <a:endParaRPr lang="en-US" sz="1500" dirty="0"/>
          </a:p>
        </p:txBody>
      </p:sp>
      <p:sp>
        <p:nvSpPr>
          <p:cNvPr id="5" name="Training card"/>
          <p:cNvSpPr/>
          <p:nvPr/>
        </p:nvSpPr>
        <p:spPr>
          <a:xfrm>
            <a:off x="6278728" y="2286000"/>
            <a:ext cx="5364328" cy="3886200"/>
          </a:xfrm>
          <a:prstGeom prst="roundRect">
            <a:avLst>
              <a:gd name="adj" fmla="val 3294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644488" y="2606040"/>
            <a:ext cx="4632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644488" y="2880360"/>
            <a:ext cx="463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سيناريو محفوظ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644488" y="3474720"/>
            <a:ext cx="463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chemeClr val="bg2"/>
                </a:solidFill>
              </a:rPr>
              <a:t>المتدرّب يتعلم مسارًا معروفًا</a:t>
            </a:r>
            <a:endParaRPr lang="en-US" sz="15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chemeClr val="bg2"/>
                </a:solidFill>
              </a:rPr>
              <a:t>والنتيجة تنتهي عند النجاح أو الفشل.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18808" y="5029200"/>
            <a:ext cx="4084168" cy="914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02391" y="4928616"/>
            <a:ext cx="201168" cy="201168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362895" y="5257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لا تكيف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541002" y="4928616"/>
            <a:ext cx="201168" cy="201168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01506" y="5257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لا ضغط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79613" y="4928616"/>
            <a:ext cx="201168" cy="201168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40117" y="5257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لا قياس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18224" y="4928616"/>
            <a:ext cx="201168" cy="201168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78728" y="5257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نهاية</a:t>
            </a:r>
            <a:endParaRPr lang="en-US" sz="1300" dirty="0"/>
          </a:p>
        </p:txBody>
      </p:sp>
      <p:sp>
        <p:nvSpPr>
          <p:cNvPr id="18" name="Real incident card"/>
          <p:cNvSpPr/>
          <p:nvPr/>
        </p:nvSpPr>
        <p:spPr>
          <a:xfrm>
            <a:off x="548640" y="2286000"/>
            <a:ext cx="5364328" cy="3886200"/>
          </a:xfrm>
          <a:prstGeom prst="roundRect">
            <a:avLst>
              <a:gd name="adj" fmla="val 3294"/>
            </a:avLst>
          </a:prstGeom>
          <a:solidFill>
            <a:schemeClr val="tx2"/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14400" y="2606040"/>
            <a:ext cx="4632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INCIDENT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2880360"/>
            <a:ext cx="463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خصم يلاحظ دفاعك ويغيّر مساره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 flipH="1" flipV="1">
            <a:off x="4526280" y="3886200"/>
            <a:ext cx="182880" cy="50292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H="1">
            <a:off x="3291840" y="3886200"/>
            <a:ext cx="182880" cy="50292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H="1" flipV="1">
            <a:off x="2057400" y="3886200"/>
            <a:ext cx="182880" cy="50292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709160" y="4160520"/>
            <a:ext cx="1051560" cy="457200"/>
          </a:xfrm>
          <a:prstGeom prst="roundRect">
            <a:avLst>
              <a:gd name="adj" fmla="val 20000"/>
            </a:avLst>
          </a:prstGeom>
          <a:solidFill>
            <a:schemeClr val="accent3">
              <a:alpha val="15000"/>
            </a:schemeClr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09160" y="41605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تنبيه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3657600"/>
            <a:ext cx="1051560" cy="457200"/>
          </a:xfrm>
          <a:prstGeom prst="roundRect">
            <a:avLst>
              <a:gd name="adj" fmla="val 20000"/>
            </a:avLst>
          </a:prstGeom>
          <a:solidFill>
            <a:schemeClr val="accent1">
              <a:alpha val="15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74720" y="36576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قرار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240280" y="4160520"/>
            <a:ext cx="1051560" cy="457200"/>
          </a:xfrm>
          <a:prstGeom prst="roundRect">
            <a:avLst>
              <a:gd name="adj" fmla="val 20000"/>
            </a:avLst>
          </a:prstGeom>
          <a:solidFill>
            <a:schemeClr val="accent4">
              <a:alpha val="15000"/>
            </a:schemeClr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240280" y="41605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التفاف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05840" y="3657600"/>
            <a:ext cx="1051560" cy="457200"/>
          </a:xfrm>
          <a:prstGeom prst="roundRect">
            <a:avLst>
              <a:gd name="adj" fmla="val 20000"/>
            </a:avLst>
          </a:prstGeom>
          <a:solidFill>
            <a:schemeClr val="accent2">
              <a:alpha val="15000"/>
            </a:schemeClr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05840" y="36576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احتواء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14400" y="4983480"/>
            <a:ext cx="4632808" cy="914400"/>
          </a:xfrm>
          <a:prstGeom prst="roundRect">
            <a:avLst>
              <a:gd name="adj" fmla="val 10000"/>
            </a:avLst>
          </a:prstGeom>
          <a:solidFill>
            <a:schemeClr val="accent1">
              <a:alpha val="10000"/>
            </a:schemeClr>
          </a:solidFill>
          <a:ln w="9525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143000" y="5074920"/>
            <a:ext cx="4175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الفرق الذي نريد قياسه:</a:t>
            </a:r>
            <a:endParaRPr lang="en-US" sz="1400" dirty="0"/>
          </a:p>
          <a:p>
            <a:pPr algn="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كيف يتصرّف الإنسان عندما يتغيّر الهجوم؟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303520" y="64190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6156655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IDEA</a:t>
            </a:r>
            <a:endParaRPr lang="en-US" sz="11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الفكرة في جملة واحدة</a:t>
            </a:r>
            <a:endParaRPr lang="en-US" sz="30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1645920" y="1481328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رصد سايبر تربط الخصم، السلوك، التحقيق والقياس في حلقة واحدة؛ والنتيجة تغيّر الجولة التالية.</a:t>
            </a:r>
            <a:endParaRPr lang="en-US" sz="1500" dirty="0"/>
          </a:p>
        </p:txBody>
      </p:sp>
      <p:sp>
        <p:nvSpPr>
          <p:cNvPr id="5" name="Step 01"/>
          <p:cNvSpPr/>
          <p:nvPr/>
        </p:nvSpPr>
        <p:spPr>
          <a:xfrm>
            <a:off x="9643628" y="2331720"/>
            <a:ext cx="1999427" cy="2514600"/>
          </a:xfrm>
          <a:prstGeom prst="roundRect">
            <a:avLst>
              <a:gd name="adj" fmla="val 6403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872228" y="2560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466588" y="2624328"/>
            <a:ext cx="9478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209002" y="3154680"/>
            <a:ext cx="868680" cy="868680"/>
          </a:xfrm>
          <a:prstGeom prst="ellipse">
            <a:avLst/>
          </a:prstGeom>
          <a:solidFill>
            <a:schemeClr val="accent1">
              <a:alpha val="18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6172" y="3371850"/>
            <a:ext cx="434340" cy="4343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780788" y="4160520"/>
            <a:ext cx="1725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خصم متكيّف</a:t>
            </a:r>
            <a:endParaRPr lang="en-US" sz="1600" dirty="0"/>
          </a:p>
        </p:txBody>
      </p:sp>
      <p:sp>
        <p:nvSpPr>
          <p:cNvPr id="11" name="Step 02"/>
          <p:cNvSpPr/>
          <p:nvPr/>
        </p:nvSpPr>
        <p:spPr>
          <a:xfrm>
            <a:off x="7369881" y="2331720"/>
            <a:ext cx="1999427" cy="2514600"/>
          </a:xfrm>
          <a:prstGeom prst="roundRect">
            <a:avLst>
              <a:gd name="adj" fmla="val 6403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598481" y="2560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192841" y="2624328"/>
            <a:ext cx="9478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935255" y="3154680"/>
            <a:ext cx="868680" cy="868680"/>
          </a:xfrm>
          <a:prstGeom prst="ellipse">
            <a:avLst/>
          </a:prstGeom>
          <a:solidFill>
            <a:schemeClr val="accent2">
              <a:alpha val="18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2425" y="3371850"/>
            <a:ext cx="434340" cy="43434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507041" y="4160520"/>
            <a:ext cx="1725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دفاع تحت الضغط</a:t>
            </a:r>
            <a:endParaRPr lang="en-US" sz="1600" dirty="0"/>
          </a:p>
        </p:txBody>
      </p:sp>
      <p:sp>
        <p:nvSpPr>
          <p:cNvPr id="17" name="Step 03"/>
          <p:cNvSpPr/>
          <p:nvPr/>
        </p:nvSpPr>
        <p:spPr>
          <a:xfrm>
            <a:off x="5096134" y="2331720"/>
            <a:ext cx="1999427" cy="2514600"/>
          </a:xfrm>
          <a:prstGeom prst="roundRect">
            <a:avLst>
              <a:gd name="adj" fmla="val 6403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5324734" y="2560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5919094" y="2624328"/>
            <a:ext cx="9478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FORENSICS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661508" y="3154680"/>
            <a:ext cx="868680" cy="868680"/>
          </a:xfrm>
          <a:prstGeom prst="ellipse">
            <a:avLst/>
          </a:prstGeom>
          <a:solidFill>
            <a:schemeClr val="accent3">
              <a:alpha val="18000"/>
            </a:schemeClr>
          </a:solidFill>
          <a:ln w="12700">
            <a:solidFill>
              <a:schemeClr val="accent3">
                <a:alpha val="55000"/>
              </a:scheme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678" y="3371850"/>
            <a:ext cx="434340" cy="43434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233294" y="4160520"/>
            <a:ext cx="1725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تحقيق جنائي</a:t>
            </a:r>
            <a:endParaRPr lang="en-US" sz="1600" dirty="0"/>
          </a:p>
        </p:txBody>
      </p:sp>
      <p:sp>
        <p:nvSpPr>
          <p:cNvPr id="23" name="Step 04"/>
          <p:cNvSpPr/>
          <p:nvPr/>
        </p:nvSpPr>
        <p:spPr>
          <a:xfrm>
            <a:off x="2822387" y="2331720"/>
            <a:ext cx="1999427" cy="2514600"/>
          </a:xfrm>
          <a:prstGeom prst="roundRect">
            <a:avLst>
              <a:gd name="adj" fmla="val 6403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24" name="Text 19"/>
          <p:cNvSpPr txBox="1"/>
          <p:nvPr/>
        </p:nvSpPr>
        <p:spPr>
          <a:xfrm>
            <a:off x="3050987" y="2560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0"/>
          <p:cNvSpPr txBox="1"/>
          <p:nvPr/>
        </p:nvSpPr>
        <p:spPr>
          <a:xfrm>
            <a:off x="3645347" y="2624328"/>
            <a:ext cx="9478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3387761" y="3154680"/>
            <a:ext cx="868680" cy="868680"/>
          </a:xfrm>
          <a:prstGeom prst="ellipse">
            <a:avLst/>
          </a:prstGeom>
          <a:solidFill>
            <a:schemeClr val="accent5">
              <a:alpha val="18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4931" y="3371850"/>
            <a:ext cx="434340" cy="43434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2959547" y="4160520"/>
            <a:ext cx="1725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جاهزية مقاسة</a:t>
            </a:r>
            <a:endParaRPr lang="en-US" sz="1600" dirty="0"/>
          </a:p>
        </p:txBody>
      </p:sp>
      <p:sp>
        <p:nvSpPr>
          <p:cNvPr id="29" name="Step 05"/>
          <p:cNvSpPr/>
          <p:nvPr/>
        </p:nvSpPr>
        <p:spPr>
          <a:xfrm>
            <a:off x="548640" y="2331720"/>
            <a:ext cx="1999427" cy="2514600"/>
          </a:xfrm>
          <a:prstGeom prst="roundRect">
            <a:avLst>
              <a:gd name="adj" fmla="val 6403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30" name="Text 24"/>
          <p:cNvSpPr txBox="1"/>
          <p:nvPr/>
        </p:nvSpPr>
        <p:spPr>
          <a:xfrm>
            <a:off x="777240" y="2560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31" name="Text 25"/>
          <p:cNvSpPr txBox="1"/>
          <p:nvPr/>
        </p:nvSpPr>
        <p:spPr>
          <a:xfrm>
            <a:off x="1371600" y="2624328"/>
            <a:ext cx="9478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RE-TARGET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1114014" y="3154680"/>
            <a:ext cx="868680" cy="868680"/>
          </a:xfrm>
          <a:prstGeom prst="ellipse">
            <a:avLst/>
          </a:prstGeom>
          <a:solidFill>
            <a:schemeClr val="accent1">
              <a:alpha val="18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1184" y="3371850"/>
            <a:ext cx="434340" cy="43434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685800" y="4160520"/>
            <a:ext cx="1725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هجوم الجولة التالية</a:t>
            </a:r>
            <a:endParaRPr lang="en-US" sz="1600" dirty="0"/>
          </a:p>
        </p:txBody>
      </p:sp>
      <p:sp>
        <p:nvSpPr>
          <p:cNvPr id="35" name="Shape 28"/>
          <p:cNvSpPr/>
          <p:nvPr/>
        </p:nvSpPr>
        <p:spPr>
          <a:xfrm flipH="1">
            <a:off x="9405884" y="3589020"/>
            <a:ext cx="219456" cy="914"/>
          </a:xfrm>
          <a:prstGeom prst="line">
            <a:avLst/>
          </a:prstGeom>
          <a:noFill/>
          <a:ln w="158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36" name="Shape 29"/>
          <p:cNvSpPr/>
          <p:nvPr/>
        </p:nvSpPr>
        <p:spPr>
          <a:xfrm flipH="1">
            <a:off x="7132137" y="3589020"/>
            <a:ext cx="219456" cy="914"/>
          </a:xfrm>
          <a:prstGeom prst="line">
            <a:avLst/>
          </a:prstGeom>
          <a:noFill/>
          <a:ln w="158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37" name="Shape 30"/>
          <p:cNvSpPr/>
          <p:nvPr/>
        </p:nvSpPr>
        <p:spPr>
          <a:xfrm flipH="1">
            <a:off x="4858390" y="3589020"/>
            <a:ext cx="219456" cy="914"/>
          </a:xfrm>
          <a:prstGeom prst="line">
            <a:avLst/>
          </a:prstGeom>
          <a:noFill/>
          <a:ln w="158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38" name="Shape 31"/>
          <p:cNvSpPr/>
          <p:nvPr/>
        </p:nvSpPr>
        <p:spPr>
          <a:xfrm flipH="1">
            <a:off x="2584643" y="3589020"/>
            <a:ext cx="219456" cy="914"/>
          </a:xfrm>
          <a:prstGeom prst="line">
            <a:avLst/>
          </a:prstGeom>
          <a:noFill/>
          <a:ln w="158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39" name="Shape 32"/>
          <p:cNvSpPr/>
          <p:nvPr/>
        </p:nvSpPr>
        <p:spPr>
          <a:xfrm>
            <a:off x="1548354" y="4846320"/>
            <a:ext cx="914" cy="41148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1548354" y="5257800"/>
            <a:ext cx="9094988" cy="91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 flipV="1">
            <a:off x="10643342" y="4864608"/>
            <a:ext cx="914" cy="393192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2" name="Shape 35"/>
          <p:cNvSpPr/>
          <p:nvPr/>
        </p:nvSpPr>
        <p:spPr>
          <a:xfrm>
            <a:off x="2926080" y="5010912"/>
            <a:ext cx="6339535" cy="4937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2926080" y="5010912"/>
            <a:ext cx="6339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النتيجة لا تُعرض ثم تُنسى — بل تعود لتوجيه الخصم في التمرين التالي.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303520" y="64190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6156655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ADVERSARY</a:t>
            </a:r>
            <a:endParaRPr lang="en-US" sz="11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خصم يتعلم منك، لا سيناريو يُحفظ</a:t>
            </a:r>
            <a:endParaRPr lang="en-US" sz="30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1645920" y="1481328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محرك مبني على MITRE ATT&amp;CK يتتبع الدفاعات ويختار مسارًا مختلفًا داخل بيئة المحاكاة.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 flipH="1" flipV="1">
            <a:off x="9716780" y="2743200"/>
            <a:ext cx="463235" cy="777240"/>
          </a:xfrm>
          <a:prstGeom prst="line">
            <a:avLst/>
          </a:prstGeom>
          <a:noFill/>
          <a:ln w="19050">
            <a:solidFill>
              <a:schemeClr val="bg2">
                <a:alpha val="60000"/>
              </a:schemeClr>
            </a:solidFill>
            <a:prstDash val="dash"/>
            <a:tailEnd type="triangle"/>
          </a:ln>
        </p:spPr>
      </p:sp>
      <p:sp>
        <p:nvSpPr>
          <p:cNvPr id="6" name="Shape 4"/>
          <p:cNvSpPr/>
          <p:nvPr/>
        </p:nvSpPr>
        <p:spPr>
          <a:xfrm flipH="1">
            <a:off x="9716780" y="3520440"/>
            <a:ext cx="463235" cy="77724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H="1">
            <a:off x="7790505" y="2743200"/>
            <a:ext cx="463235" cy="777240"/>
          </a:xfrm>
          <a:prstGeom prst="line">
            <a:avLst/>
          </a:prstGeom>
          <a:noFill/>
          <a:ln w="19050">
            <a:solidFill>
              <a:schemeClr val="bg2">
                <a:alpha val="60000"/>
              </a:schemeClr>
            </a:solidFill>
            <a:prstDash val="dash"/>
            <a:tailEnd type="triangle"/>
          </a:ln>
        </p:spPr>
      </p:sp>
      <p:sp>
        <p:nvSpPr>
          <p:cNvPr id="8" name="Shape 6"/>
          <p:cNvSpPr/>
          <p:nvPr/>
        </p:nvSpPr>
        <p:spPr>
          <a:xfrm flipH="1" flipV="1">
            <a:off x="7790505" y="3520440"/>
            <a:ext cx="463235" cy="77724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H="1" flipV="1">
            <a:off x="5864230" y="2743200"/>
            <a:ext cx="463235" cy="77724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H="1">
            <a:off x="5864230" y="3520440"/>
            <a:ext cx="463235" cy="777240"/>
          </a:xfrm>
          <a:prstGeom prst="line">
            <a:avLst/>
          </a:prstGeom>
          <a:noFill/>
          <a:ln w="19050">
            <a:solidFill>
              <a:schemeClr val="bg2">
                <a:alpha val="70000"/>
              </a:scheme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flipH="1">
            <a:off x="3937955" y="2743200"/>
            <a:ext cx="463235" cy="77724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H="1" flipV="1">
            <a:off x="3937955" y="3520440"/>
            <a:ext cx="463235" cy="777240"/>
          </a:xfrm>
          <a:prstGeom prst="line">
            <a:avLst/>
          </a:prstGeom>
          <a:noFill/>
          <a:ln w="19050">
            <a:solidFill>
              <a:schemeClr val="bg2">
                <a:alpha val="70000"/>
              </a:schemeClr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H="1">
            <a:off x="2011680" y="3520440"/>
            <a:ext cx="463235" cy="91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4" name="T1190"/>
          <p:cNvSpPr/>
          <p:nvPr/>
        </p:nvSpPr>
        <p:spPr>
          <a:xfrm>
            <a:off x="10180015" y="3145536"/>
            <a:ext cx="1463040" cy="749808"/>
          </a:xfrm>
          <a:prstGeom prst="roundRect">
            <a:avLst>
              <a:gd name="adj" fmla="val 14634"/>
            </a:avLst>
          </a:prstGeom>
          <a:solidFill>
            <a:schemeClr val="tx2"/>
          </a:solidFill>
          <a:ln w="19050">
            <a:solidFill>
              <a:schemeClr val="accent4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0180015" y="32552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T1190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180015" y="35661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Access</a:t>
            </a:r>
            <a:endParaRPr lang="en-US" sz="1000" dirty="0"/>
          </a:p>
        </p:txBody>
      </p:sp>
      <p:sp>
        <p:nvSpPr>
          <p:cNvPr id="17" name="T1110"/>
          <p:cNvSpPr/>
          <p:nvPr/>
        </p:nvSpPr>
        <p:spPr>
          <a:xfrm>
            <a:off x="8253740" y="2368296"/>
            <a:ext cx="1463040" cy="749808"/>
          </a:xfrm>
          <a:prstGeom prst="roundRect">
            <a:avLst>
              <a:gd name="adj" fmla="val 14634"/>
            </a:avLst>
          </a:prstGeom>
          <a:solidFill>
            <a:schemeClr val="tx1"/>
          </a:solidFill>
          <a:ln w="19050">
            <a:solidFill>
              <a:schemeClr val="accent4">
                <a:alpha val="80000"/>
              </a:schemeClr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8253740" y="24780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T1110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53740" y="2788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533900" y="2221992"/>
            <a:ext cx="329184" cy="329184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4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7908" y="2286000"/>
            <a:ext cx="201168" cy="201168"/>
          </a:xfrm>
          <a:prstGeom prst="rect">
            <a:avLst/>
          </a:prstGeom>
        </p:spPr>
      </p:pic>
      <p:sp>
        <p:nvSpPr>
          <p:cNvPr id="22" name="T1566"/>
          <p:cNvSpPr/>
          <p:nvPr/>
        </p:nvSpPr>
        <p:spPr>
          <a:xfrm>
            <a:off x="8253740" y="3922776"/>
            <a:ext cx="1463040" cy="749808"/>
          </a:xfrm>
          <a:prstGeom prst="roundRect">
            <a:avLst>
              <a:gd name="adj" fmla="val 14634"/>
            </a:avLst>
          </a:prstGeom>
          <a:solidFill>
            <a:schemeClr val="tx2"/>
          </a:solidFill>
          <a:ln w="19050">
            <a:solidFill>
              <a:schemeClr val="accent3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8253740" y="40325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T1566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253740" y="43434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</a:t>
            </a:r>
            <a:endParaRPr lang="en-US" sz="1000" dirty="0"/>
          </a:p>
        </p:txBody>
      </p:sp>
      <p:sp>
        <p:nvSpPr>
          <p:cNvPr id="25" name="T1204"/>
          <p:cNvSpPr/>
          <p:nvPr/>
        </p:nvSpPr>
        <p:spPr>
          <a:xfrm>
            <a:off x="6327465" y="3145536"/>
            <a:ext cx="1463040" cy="749808"/>
          </a:xfrm>
          <a:prstGeom prst="roundRect">
            <a:avLst>
              <a:gd name="adj" fmla="val 14634"/>
            </a:avLst>
          </a:prstGeom>
          <a:solidFill>
            <a:schemeClr val="tx2"/>
          </a:solidFill>
          <a:ln w="19050">
            <a:solidFill>
              <a:schemeClr val="accent2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327465" y="32552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T1204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327465" y="35661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28" name="T1027"/>
          <p:cNvSpPr/>
          <p:nvPr/>
        </p:nvSpPr>
        <p:spPr>
          <a:xfrm>
            <a:off x="4401190" y="2368296"/>
            <a:ext cx="1463040" cy="749808"/>
          </a:xfrm>
          <a:prstGeom prst="roundRect">
            <a:avLst>
              <a:gd name="adj" fmla="val 14634"/>
            </a:avLst>
          </a:prstGeom>
          <a:solidFill>
            <a:schemeClr val="tx2"/>
          </a:solidFill>
          <a:ln w="19050">
            <a:solidFill>
              <a:schemeClr val="accent5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4401190" y="24780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T1027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4401190" y="2788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Evasion</a:t>
            </a:r>
            <a:endParaRPr lang="en-US" sz="1000" dirty="0"/>
          </a:p>
        </p:txBody>
      </p:sp>
      <p:sp>
        <p:nvSpPr>
          <p:cNvPr id="31" name="T1053"/>
          <p:cNvSpPr/>
          <p:nvPr/>
        </p:nvSpPr>
        <p:spPr>
          <a:xfrm>
            <a:off x="4401190" y="3922776"/>
            <a:ext cx="1463040" cy="749808"/>
          </a:xfrm>
          <a:prstGeom prst="roundRect">
            <a:avLst>
              <a:gd name="adj" fmla="val 14634"/>
            </a:avLst>
          </a:prstGeom>
          <a:solidFill>
            <a:schemeClr val="tx2"/>
          </a:solidFill>
          <a:ln w="19050">
            <a:solidFill>
              <a:schemeClr val="accent5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4401190" y="40325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T1053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4401190" y="43434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</a:t>
            </a:r>
            <a:endParaRPr lang="en-US" sz="1000" dirty="0"/>
          </a:p>
        </p:txBody>
      </p:sp>
      <p:sp>
        <p:nvSpPr>
          <p:cNvPr id="34" name="T1021"/>
          <p:cNvSpPr/>
          <p:nvPr/>
        </p:nvSpPr>
        <p:spPr>
          <a:xfrm>
            <a:off x="2474915" y="3145536"/>
            <a:ext cx="1463040" cy="749808"/>
          </a:xfrm>
          <a:prstGeom prst="roundRect">
            <a:avLst>
              <a:gd name="adj" fmla="val 14634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2474915" y="32552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T1021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2474915" y="35661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 Move</a:t>
            </a:r>
            <a:endParaRPr lang="en-US" sz="1000" dirty="0"/>
          </a:p>
        </p:txBody>
      </p:sp>
      <p:sp>
        <p:nvSpPr>
          <p:cNvPr id="37" name="T1041"/>
          <p:cNvSpPr/>
          <p:nvPr/>
        </p:nvSpPr>
        <p:spPr>
          <a:xfrm>
            <a:off x="548640" y="3145536"/>
            <a:ext cx="1463040" cy="749808"/>
          </a:xfrm>
          <a:prstGeom prst="roundRect">
            <a:avLst>
              <a:gd name="adj" fmla="val 14634"/>
            </a:avLst>
          </a:prstGeom>
          <a:solidFill>
            <a:schemeClr val="tx2"/>
          </a:solidFill>
          <a:ln w="19050">
            <a:solidFill>
              <a:schemeClr val="accent4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38" name="Text 35"/>
          <p:cNvSpPr txBox="1"/>
          <p:nvPr/>
        </p:nvSpPr>
        <p:spPr>
          <a:xfrm>
            <a:off x="548640" y="32552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T1041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35661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Exfiltration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1828800" y="5166360"/>
            <a:ext cx="8534095" cy="777240"/>
          </a:xfrm>
          <a:prstGeom prst="roundRect">
            <a:avLst>
              <a:gd name="adj" fmla="val 1647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677095" y="5285232"/>
            <a:ext cx="548640" cy="548640"/>
          </a:xfrm>
          <a:prstGeom prst="ellipse">
            <a:avLst/>
          </a:prstGeom>
          <a:solidFill>
            <a:srgbClr val="20E2A2">
              <a:alpha val="18000"/>
            </a:srgbClr>
          </a:solidFill>
          <a:ln w="12700">
            <a:solidFill>
              <a:srgbClr val="20E2A2">
                <a:alpha val="55000"/>
              </a:srgbClr>
            </a:solidFill>
            <a:prstDash val="solid"/>
          </a:ln>
        </p:spPr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5422392"/>
            <a:ext cx="274320" cy="274320"/>
          </a:xfrm>
          <a:prstGeom prst="rect">
            <a:avLst/>
          </a:prstGeom>
        </p:spPr>
      </p:pic>
      <p:sp>
        <p:nvSpPr>
          <p:cNvPr id="43" name="Text 39"/>
          <p:cNvSpPr txBox="1"/>
          <p:nvPr/>
        </p:nvSpPr>
        <p:spPr>
          <a:xfrm>
            <a:off x="2103120" y="5166360"/>
            <a:ext cx="7299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إذا نشر المتدرّب دفاعًا يوقف تقنية معيّنة، المحرك لا يعيد نفس الحركة؛ ينتقل إلى تقنية أخرى موثقة ومسموح بها.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303520" y="64190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6156655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&amp; BEHAVIOR</a:t>
            </a:r>
            <a:endParaRPr lang="en-US" sz="11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المعرفة وحدها لا تكفي؛ نريد أن نقيس القرار تحت الضغط</a:t>
            </a:r>
            <a:endParaRPr lang="en-US" sz="30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1645920" y="1481328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نحوّل تجربة الحادثة إلى بيانات سلوكية قابلة للقياس بدل الاعتماد على الانطباع.</a:t>
            </a:r>
            <a:endParaRPr lang="en-US" sz="1500" dirty="0"/>
          </a:p>
        </p:txBody>
      </p:sp>
      <p:sp>
        <p:nvSpPr>
          <p:cNvPr id="5" name="Pressure mode"/>
          <p:cNvSpPr/>
          <p:nvPr/>
        </p:nvSpPr>
        <p:spPr>
          <a:xfrm>
            <a:off x="7162495" y="2286000"/>
            <a:ext cx="4480560" cy="3886200"/>
          </a:xfrm>
          <a:prstGeom prst="roundRect">
            <a:avLst>
              <a:gd name="adj" fmla="val 3294"/>
            </a:avLst>
          </a:prstGeom>
          <a:solidFill>
            <a:schemeClr val="tx2"/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528255" y="26060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MODE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528255" y="29260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03:42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7528255" y="3794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وقت متبقٍ للاحتواء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528255" y="4297680"/>
            <a:ext cx="3749040" cy="438912"/>
          </a:xfrm>
          <a:prstGeom prst="roundRect">
            <a:avLst>
              <a:gd name="adj" fmla="val 16667"/>
            </a:avLst>
          </a:prstGeom>
          <a:solidFill>
            <a:schemeClr val="accent4">
              <a:alpha val="12000"/>
            </a:schemeClr>
          </a:solidFill>
          <a:ln w="9525">
            <a:solidFill>
              <a:schemeClr val="accent4">
                <a:alpha val="40000"/>
              </a:scheme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408615" y="429768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711135" y="42976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 PowerShell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28255" y="4846320"/>
            <a:ext cx="3749040" cy="438912"/>
          </a:xfrm>
          <a:prstGeom prst="roundRect">
            <a:avLst>
              <a:gd name="adj" fmla="val 16667"/>
            </a:avLst>
          </a:prstGeom>
          <a:solidFill>
            <a:schemeClr val="accent3">
              <a:alpha val="12000"/>
            </a:schemeClr>
          </a:solidFill>
          <a:ln w="9525">
            <a:solidFill>
              <a:schemeClr val="accent3">
                <a:alpha val="40000"/>
              </a:scheme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408615" y="484632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711135" y="484632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spray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28255" y="5394960"/>
            <a:ext cx="3749040" cy="438912"/>
          </a:xfrm>
          <a:prstGeom prst="roundRect">
            <a:avLst>
              <a:gd name="adj" fmla="val 16667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>
                <a:alpha val="40000"/>
              </a:scheme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08615" y="539496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711135" y="539496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ping</a:t>
            </a:r>
            <a:endParaRPr lang="en-US" sz="1200" dirty="0"/>
          </a:p>
        </p:txBody>
      </p:sp>
      <p:sp>
        <p:nvSpPr>
          <p:cNvPr id="18" name="Behavioral fingerprint"/>
          <p:cNvSpPr/>
          <p:nvPr/>
        </p:nvSpPr>
        <p:spPr>
          <a:xfrm>
            <a:off x="548640" y="2286000"/>
            <a:ext cx="6248095" cy="3886200"/>
          </a:xfrm>
          <a:prstGeom prst="roundRect">
            <a:avLst>
              <a:gd name="adj" fmla="val 3294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14400" y="2606040"/>
            <a:ext cx="5516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FINGERPRINT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56455" y="31089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سرعة القرار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783080" y="3209544"/>
            <a:ext cx="2636215" cy="18288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22" name="Shape 20"/>
          <p:cNvSpPr/>
          <p:nvPr/>
        </p:nvSpPr>
        <p:spPr>
          <a:xfrm>
            <a:off x="2363047" y="3209544"/>
            <a:ext cx="2056248" cy="1828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400" y="31089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556455" y="376732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التحقق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783080" y="3867912"/>
            <a:ext cx="2636215" cy="18288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26" name="Shape 24"/>
          <p:cNvSpPr/>
          <p:nvPr/>
        </p:nvSpPr>
        <p:spPr>
          <a:xfrm>
            <a:off x="2758480" y="3867912"/>
            <a:ext cx="1660816" cy="1828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376732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556455" y="442569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الاستجابة للتحذيرات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783080" y="4526280"/>
            <a:ext cx="2636215" cy="18288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30" name="Shape 28"/>
          <p:cNvSpPr/>
          <p:nvPr/>
        </p:nvSpPr>
        <p:spPr>
          <a:xfrm>
            <a:off x="2152150" y="4526280"/>
            <a:ext cx="2267145" cy="18288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14400" y="442569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4556455" y="508406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الثبات تحت الضغط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783080" y="5184648"/>
            <a:ext cx="2636215" cy="18288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34" name="Shape 32"/>
          <p:cNvSpPr/>
          <p:nvPr/>
        </p:nvSpPr>
        <p:spPr>
          <a:xfrm>
            <a:off x="2916653" y="5184648"/>
            <a:ext cx="1502643" cy="18288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14400" y="508406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914400" y="5623560"/>
            <a:ext cx="5516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كل القيم تأتي من Telemetry فعلية داخل الجلسة.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303520" y="64190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6156655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FORENSICS → READINESS</a:t>
            </a:r>
            <a:endParaRPr lang="en-US" sz="11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بعد الاحتواء: نفهم ما حدث، ثم نحوله إلى جاهزية</a:t>
            </a:r>
            <a:endParaRPr lang="en-US" sz="30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1645920" y="1481328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المنصة لا تتوقف عند “نجحت”. نعيد بناء الحادثة ثم نستخدم النتائج في مؤشر جاهزية واحد قابل للتفسير.</a:t>
            </a:r>
            <a:endParaRPr lang="en-US" sz="1500" dirty="0"/>
          </a:p>
        </p:txBody>
      </p:sp>
      <p:sp>
        <p:nvSpPr>
          <p:cNvPr id="5" name="Forensic timeline"/>
          <p:cNvSpPr/>
          <p:nvPr/>
        </p:nvSpPr>
        <p:spPr>
          <a:xfrm>
            <a:off x="6278728" y="2286000"/>
            <a:ext cx="5364328" cy="3886200"/>
          </a:xfrm>
          <a:prstGeom prst="roundRect">
            <a:avLst>
              <a:gd name="adj" fmla="val 3294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644488" y="2606040"/>
            <a:ext cx="4632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TIMELINE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964528" y="3611880"/>
            <a:ext cx="3992728" cy="914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408615" y="3154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12:04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838383" y="3493008"/>
            <a:ext cx="237744" cy="23774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317175" y="3840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077706" y="3154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12:06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07474" y="3493008"/>
            <a:ext cx="237744" cy="237744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86266" y="3840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46797" y="3154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12:09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76565" y="3493008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55357" y="3840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15888" y="3154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12:12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45656" y="3493008"/>
            <a:ext cx="237744" cy="237744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24448" y="3840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IOC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44488" y="4526280"/>
            <a:ext cx="4632808" cy="1097280"/>
          </a:xfrm>
          <a:prstGeom prst="roundRect">
            <a:avLst>
              <a:gd name="adj" fmla="val 8333"/>
            </a:avLst>
          </a:prstGeom>
          <a:solidFill>
            <a:schemeClr val="accent3">
              <a:alpha val="10000"/>
            </a:schemeClr>
          </a:solidFill>
          <a:ln w="9525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905695" y="457200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4000" dirty="0"/>
          </a:p>
        </p:txBody>
      </p:sp>
      <p:sp>
        <p:nvSpPr>
          <p:cNvPr id="22" name="Text 20"/>
          <p:cNvSpPr txBox="1"/>
          <p:nvPr/>
        </p:nvSpPr>
        <p:spPr>
          <a:xfrm>
            <a:off x="9265615" y="5212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درجة التحقيق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827368" y="4526280"/>
            <a:ext cx="2621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اكتشاف 44   ·   ترتيب 25   ·   دخول 18</a:t>
            </a:r>
            <a:endParaRPr lang="en-US" sz="1400" dirty="0"/>
          </a:p>
        </p:txBody>
      </p:sp>
      <p:sp>
        <p:nvSpPr>
          <p:cNvPr id="24" name="Readiness index"/>
          <p:cNvSpPr/>
          <p:nvPr/>
        </p:nvSpPr>
        <p:spPr>
          <a:xfrm>
            <a:off x="548640" y="2286000"/>
            <a:ext cx="5364328" cy="3886200"/>
          </a:xfrm>
          <a:prstGeom prst="roundRect">
            <a:avLst>
              <a:gd name="adj" fmla="val 3294"/>
            </a:avLst>
          </a:prstGeom>
          <a:solidFill>
            <a:schemeClr val="tx2"/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14400" y="2606040"/>
            <a:ext cx="4632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INDEX</a:t>
            </a:r>
            <a:endParaRPr lang="en-US" sz="10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822960" y="2971800"/>
          <a:ext cx="23774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 24"/>
          <p:cNvSpPr txBox="1"/>
          <p:nvPr/>
        </p:nvSpPr>
        <p:spPr>
          <a:xfrm>
            <a:off x="822960" y="3703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1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/100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4358488" y="30632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دقة الدفاع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3840480" y="3163824"/>
            <a:ext cx="426568" cy="8229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30" name="Shape 27"/>
          <p:cNvSpPr/>
          <p:nvPr/>
        </p:nvSpPr>
        <p:spPr>
          <a:xfrm>
            <a:off x="3840480" y="3163824"/>
            <a:ext cx="426568" cy="822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3383280" y="3063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4358488" y="35204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التحقيق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3840480" y="3621024"/>
            <a:ext cx="426568" cy="8229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34" name="Shape 31"/>
          <p:cNvSpPr/>
          <p:nvPr/>
        </p:nvSpPr>
        <p:spPr>
          <a:xfrm>
            <a:off x="4023295" y="3621024"/>
            <a:ext cx="243753" cy="822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3383280" y="35204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4358488" y="39776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الاحتواء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3840480" y="4078224"/>
            <a:ext cx="426568" cy="8229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38" name="Shape 35"/>
          <p:cNvSpPr/>
          <p:nvPr/>
        </p:nvSpPr>
        <p:spPr>
          <a:xfrm>
            <a:off x="4084233" y="4078224"/>
            <a:ext cx="182815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3383280" y="39776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4358488" y="44348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الضغط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3840480" y="4535424"/>
            <a:ext cx="426568" cy="8229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42" name="Shape 39"/>
          <p:cNvSpPr/>
          <p:nvPr/>
        </p:nvSpPr>
        <p:spPr>
          <a:xfrm>
            <a:off x="4084233" y="4535424"/>
            <a:ext cx="182815" cy="822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3383280" y="44348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4358488" y="4892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السلوك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3840480" y="4992624"/>
            <a:ext cx="426568" cy="8229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46" name="Shape 43"/>
          <p:cNvSpPr/>
          <p:nvPr/>
        </p:nvSpPr>
        <p:spPr>
          <a:xfrm>
            <a:off x="4084233" y="4992624"/>
            <a:ext cx="182815" cy="822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3383280" y="48920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914400" y="5623560"/>
            <a:ext cx="463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يبنى فقط مما رصدته المنصة — بدون إدخال يدوي للنتيجة.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303520" y="64190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6156655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ARCHITECTURE</a:t>
            </a:r>
            <a:endParaRPr lang="en-US" sz="11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منصة تدريب أمن سيبراني يجب أن تكون آمنة هي نفسها</a:t>
            </a:r>
            <a:endParaRPr lang="en-US" sz="30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1645920" y="1481328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نحافظ على مرونة الخصم، لكن التنفيذ يبقى داخل حدود واضحة وقابلة للتفسير.</a:t>
            </a:r>
            <a:endParaRPr lang="en-US" sz="1500" dirty="0"/>
          </a:p>
        </p:txBody>
      </p:sp>
      <p:sp>
        <p:nvSpPr>
          <p:cNvPr id="5" name="Layer 1"/>
          <p:cNvSpPr/>
          <p:nvPr/>
        </p:nvSpPr>
        <p:spPr>
          <a:xfrm>
            <a:off x="5516575" y="2286000"/>
            <a:ext cx="6126480" cy="621792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 w="12700">
            <a:solidFill>
              <a:schemeClr val="accent2">
                <a:alpha val="65000"/>
              </a:schemeClr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442655" y="228600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واجهات المستخدم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790895" y="228600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/ RTL / BILINGUAL</a:t>
            </a:r>
            <a:endParaRPr lang="en-US" sz="1000" dirty="0"/>
          </a:p>
        </p:txBody>
      </p:sp>
      <p:sp>
        <p:nvSpPr>
          <p:cNvPr id="8" name="Layer 2"/>
          <p:cNvSpPr/>
          <p:nvPr/>
        </p:nvSpPr>
        <p:spPr>
          <a:xfrm>
            <a:off x="5516575" y="3102102"/>
            <a:ext cx="6126480" cy="621792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 w="12700">
            <a:solidFill>
              <a:schemeClr val="accent5">
                <a:alpha val="65000"/>
              </a:schemeClr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442655" y="310210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API + منطق التدريب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790895" y="310210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/ EXPRESS</a:t>
            </a:r>
            <a:endParaRPr lang="en-US" sz="1000" dirty="0"/>
          </a:p>
        </p:txBody>
      </p:sp>
      <p:sp>
        <p:nvSpPr>
          <p:cNvPr id="11" name="Layer 3"/>
          <p:cNvSpPr/>
          <p:nvPr/>
        </p:nvSpPr>
        <p:spPr>
          <a:xfrm>
            <a:off x="5516575" y="3918204"/>
            <a:ext cx="6126480" cy="621792"/>
          </a:xfrm>
          <a:prstGeom prst="roundRect">
            <a:avLst>
              <a:gd name="adj" fmla="val 14706"/>
            </a:avLst>
          </a:prstGeom>
          <a:solidFill>
            <a:schemeClr val="accent1">
              <a:alpha val="14000"/>
            </a:schemeClr>
          </a:solidFill>
          <a:ln w="22225">
            <a:solidFill>
              <a:schemeClr val="accent1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442655" y="391820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Guardian Engine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790895" y="3918204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ALLOWED ACTIONS / MITRE VALIDATION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351215" y="4000500"/>
            <a:ext cx="457200" cy="457200"/>
          </a:xfrm>
          <a:prstGeom prst="ellipse">
            <a:avLst/>
          </a:prstGeom>
          <a:solidFill>
            <a:srgbClr val="20E2A2">
              <a:alpha val="18000"/>
            </a:srgbClr>
          </a:solidFill>
          <a:ln w="12700">
            <a:solidFill>
              <a:srgbClr val="20E2A2">
                <a:alpha val="55000"/>
              </a:srgbClr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5515" y="4114800"/>
            <a:ext cx="228600" cy="228600"/>
          </a:xfrm>
          <a:prstGeom prst="rect">
            <a:avLst/>
          </a:prstGeom>
        </p:spPr>
      </p:pic>
      <p:sp>
        <p:nvSpPr>
          <p:cNvPr id="16" name="Layer 4"/>
          <p:cNvSpPr/>
          <p:nvPr/>
        </p:nvSpPr>
        <p:spPr>
          <a:xfrm>
            <a:off x="5516575" y="4734306"/>
            <a:ext cx="6126480" cy="621792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 w="12700">
            <a:solidFill>
              <a:schemeClr val="accent3">
                <a:alpha val="65000"/>
              </a:schemeClr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8442655" y="4734306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بيئة المحاكاة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790895" y="473430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TRAINING RANGE</a:t>
            </a:r>
            <a:endParaRPr lang="en-US" sz="1000" dirty="0"/>
          </a:p>
        </p:txBody>
      </p:sp>
      <p:sp>
        <p:nvSpPr>
          <p:cNvPr id="19" name="Layer 5"/>
          <p:cNvSpPr/>
          <p:nvPr/>
        </p:nvSpPr>
        <p:spPr>
          <a:xfrm>
            <a:off x="5516575" y="5550408"/>
            <a:ext cx="6126480" cy="621792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 w="12700">
            <a:solidFill>
              <a:schemeClr val="bg2">
                <a:alpha val="65000"/>
              </a:schemeClr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8442655" y="55504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PostgreSQL + Telemetry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5790895" y="555040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STATE</a:t>
            </a:r>
            <a:endParaRPr lang="en-US" sz="1000" dirty="0"/>
          </a:p>
        </p:txBody>
      </p:sp>
      <p:sp>
        <p:nvSpPr>
          <p:cNvPr id="22" name="Trust controls"/>
          <p:cNvSpPr/>
          <p:nvPr/>
        </p:nvSpPr>
        <p:spPr>
          <a:xfrm>
            <a:off x="548640" y="2286000"/>
            <a:ext cx="4602175" cy="3886200"/>
          </a:xfrm>
          <a:prstGeom prst="roundRect">
            <a:avLst>
              <a:gd name="adj" fmla="val 3294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868680" y="2560320"/>
            <a:ext cx="3962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CONTROLS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01591" y="3054096"/>
            <a:ext cx="329184" cy="329184"/>
          </a:xfrm>
          <a:prstGeom prst="ellipse">
            <a:avLst/>
          </a:prstGeom>
          <a:solidFill>
            <a:schemeClr val="accent1">
              <a:alpha val="18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5599" y="3118104"/>
            <a:ext cx="201168" cy="20116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822960" y="2962656"/>
            <a:ext cx="35048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النتائج تُحسب في الخادم — لا نقاط موثوقة من المتصفح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4501591" y="3675888"/>
            <a:ext cx="329184" cy="329184"/>
          </a:xfrm>
          <a:prstGeom prst="ellipse">
            <a:avLst/>
          </a:prstGeom>
          <a:solidFill>
            <a:schemeClr val="accent1">
              <a:alpha val="18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599" y="3739896"/>
            <a:ext cx="201168" cy="201168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822960" y="3584448"/>
            <a:ext cx="35048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جلسات httpOnly + CSP صارمة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4501591" y="4297680"/>
            <a:ext cx="329184" cy="329184"/>
          </a:xfrm>
          <a:prstGeom prst="ellipse">
            <a:avLst/>
          </a:prstGeom>
          <a:solidFill>
            <a:schemeClr val="accent1">
              <a:alpha val="18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5599" y="4361688"/>
            <a:ext cx="201168" cy="201168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822960" y="4206240"/>
            <a:ext cx="35048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كل حركة هجومية تمر عبر Guardian Engine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4501591" y="4919472"/>
            <a:ext cx="329184" cy="329184"/>
          </a:xfrm>
          <a:prstGeom prst="ellipse">
            <a:avLst/>
          </a:prstGeom>
          <a:solidFill>
            <a:schemeClr val="accent1">
              <a:alpha val="18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5599" y="4983480"/>
            <a:ext cx="201168" cy="201168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822960" y="4828032"/>
            <a:ext cx="35048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تشغيل محلي/معزول ممكن للجهات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4501591" y="5541264"/>
            <a:ext cx="329184" cy="329184"/>
          </a:xfrm>
          <a:prstGeom prst="ellipse">
            <a:avLst/>
          </a:prstGeom>
          <a:solidFill>
            <a:schemeClr val="accent1">
              <a:alpha val="18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5599" y="5605272"/>
            <a:ext cx="201168" cy="201168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822960" y="5449824"/>
            <a:ext cx="35048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تقييم قابل للتكرار ومخرجات قابلة للتفسير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303520" y="64190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6156655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BUILT</a:t>
            </a:r>
            <a:endParaRPr lang="en-US" sz="11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ليست فكرة على الورق؛ هذه هي النواة الموجودة اليوم</a:t>
            </a:r>
            <a:endParaRPr lang="en-US" sz="30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1645920" y="1481328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نقطة الاجتماع ليست طلب تمويل لفكرة مبكرة؛ بل فتح منصة موجودة أمام خبراء القطاع لتصبح أدق وأكثر واقعية.</a:t>
            </a:r>
            <a:endParaRPr lang="en-US" sz="1500" dirty="0"/>
          </a:p>
        </p:txBody>
      </p:sp>
      <p:sp>
        <p:nvSpPr>
          <p:cNvPr id="5" name="Stat مختبرات تفاعلية"/>
          <p:cNvSpPr/>
          <p:nvPr/>
        </p:nvSpPr>
        <p:spPr>
          <a:xfrm>
            <a:off x="9643628" y="2377440"/>
            <a:ext cx="1999427" cy="2194560"/>
          </a:xfrm>
          <a:prstGeom prst="roundRect">
            <a:avLst>
              <a:gd name="adj" fmla="val 6403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43628" y="2743200"/>
            <a:ext cx="199942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9780788" y="3794760"/>
            <a:ext cx="17251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مختبرات تفاعلية</a:t>
            </a:r>
            <a:endParaRPr lang="en-US" sz="1400" dirty="0"/>
          </a:p>
        </p:txBody>
      </p:sp>
      <p:sp>
        <p:nvSpPr>
          <p:cNvPr id="8" name="Stat تقنيات MITRE ATT&amp;CK"/>
          <p:cNvSpPr/>
          <p:nvPr/>
        </p:nvSpPr>
        <p:spPr>
          <a:xfrm>
            <a:off x="7369881" y="2377440"/>
            <a:ext cx="1999427" cy="2194560"/>
          </a:xfrm>
          <a:prstGeom prst="roundRect">
            <a:avLst>
              <a:gd name="adj" fmla="val 6403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369881" y="2743200"/>
            <a:ext cx="199942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7507041" y="3794760"/>
            <a:ext cx="17251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تقنيات MITRE ATT&amp;CK</a:t>
            </a:r>
            <a:endParaRPr lang="en-US" sz="1400" dirty="0"/>
          </a:p>
        </p:txBody>
      </p:sp>
      <p:sp>
        <p:nvSpPr>
          <p:cNvPr id="11" name="Stat إجراء دفاعي"/>
          <p:cNvSpPr/>
          <p:nvPr/>
        </p:nvSpPr>
        <p:spPr>
          <a:xfrm>
            <a:off x="5096134" y="2377440"/>
            <a:ext cx="1999427" cy="2194560"/>
          </a:xfrm>
          <a:prstGeom prst="roundRect">
            <a:avLst>
              <a:gd name="adj" fmla="val 6403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096134" y="2743200"/>
            <a:ext cx="199942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5233294" y="3794760"/>
            <a:ext cx="17251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إجراء دفاعي</a:t>
            </a:r>
            <a:endParaRPr lang="en-US" sz="1400" dirty="0"/>
          </a:p>
        </p:txBody>
      </p:sp>
      <p:sp>
        <p:nvSpPr>
          <p:cNvPr id="14" name="Stat محاور سلوكية"/>
          <p:cNvSpPr/>
          <p:nvPr/>
        </p:nvSpPr>
        <p:spPr>
          <a:xfrm>
            <a:off x="2822387" y="2377440"/>
            <a:ext cx="1999427" cy="2194560"/>
          </a:xfrm>
          <a:prstGeom prst="roundRect">
            <a:avLst>
              <a:gd name="adj" fmla="val 6403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2822387" y="2743200"/>
            <a:ext cx="199942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400" dirty="0"/>
          </a:p>
        </p:txBody>
      </p:sp>
      <p:sp>
        <p:nvSpPr>
          <p:cNvPr id="16" name="Text 14"/>
          <p:cNvSpPr txBox="1"/>
          <p:nvPr/>
        </p:nvSpPr>
        <p:spPr>
          <a:xfrm>
            <a:off x="2959547" y="3794760"/>
            <a:ext cx="17251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محاور سلوكية</a:t>
            </a:r>
            <a:endParaRPr lang="en-US" sz="1400" dirty="0"/>
          </a:p>
        </p:txBody>
      </p:sp>
      <p:sp>
        <p:nvSpPr>
          <p:cNvPr id="17" name="Stat مؤشر جاهزية"/>
          <p:cNvSpPr/>
          <p:nvPr/>
        </p:nvSpPr>
        <p:spPr>
          <a:xfrm>
            <a:off x="548640" y="2377440"/>
            <a:ext cx="1999427" cy="2194560"/>
          </a:xfrm>
          <a:prstGeom prst="roundRect">
            <a:avLst>
              <a:gd name="adj" fmla="val 6403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48640" y="2743200"/>
            <a:ext cx="199942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0–100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794760"/>
            <a:ext cx="17251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مؤشر جاهزية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11094415" cy="685800"/>
          </a:xfrm>
          <a:prstGeom prst="roundRect">
            <a:avLst>
              <a:gd name="adj" fmla="val 18667"/>
            </a:avLst>
          </a:prstGeom>
          <a:solidFill>
            <a:schemeClr val="tx2">
              <a:alpha val="70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8463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خصم متكيّف + وضع ضغط + بصمة سلوكية + تحقيق جنائي + مؤشر جاهزية + جاهزية نشر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المطلوب الآن: معايرة واقعية السيناريوهات والقياس مع مختصين يعملون في الأمن السيبراني فعليًا.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303520" y="64190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6156655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11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من يستفيد؟ وما القيمة الفعلية؟</a:t>
            </a:r>
            <a:endParaRPr lang="en-US" sz="30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1645920" y="1481328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رصد سايبر ليست مكتبة محتوى؛ قيمتها في تحويل التدريب إلى قرار جاهزية يمكن للإدارة أن تعتمد عليه.</a:t>
            </a:r>
            <a:endParaRPr lang="en-US" sz="1500" dirty="0"/>
          </a:p>
        </p:txBody>
      </p:sp>
      <p:sp>
        <p:nvSpPr>
          <p:cNvPr id="5" name="Use case SOC"/>
          <p:cNvSpPr/>
          <p:nvPr/>
        </p:nvSpPr>
        <p:spPr>
          <a:xfrm>
            <a:off x="9075191" y="2377440"/>
            <a:ext cx="2567864" cy="3383280"/>
          </a:xfrm>
          <a:prstGeom prst="roundRect">
            <a:avLst>
              <a:gd name="adj" fmla="val 4985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45775" y="2743200"/>
            <a:ext cx="777240" cy="777240"/>
          </a:xfrm>
          <a:prstGeom prst="ellipse">
            <a:avLst/>
          </a:prstGeom>
          <a:solidFill>
            <a:schemeClr val="accent1">
              <a:alpha val="18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0085" y="2937510"/>
            <a:ext cx="388620" cy="3886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395231" y="2880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9395231" y="3749040"/>
            <a:ext cx="1927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فرق SOC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9395231" y="4297680"/>
            <a:ext cx="19277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bg2"/>
                </a:solidFill>
              </a:rPr>
              <a:t>تدريب المحللين على الاحتواء تحت الضغط وقياس تحسن الفريق.</a:t>
            </a:r>
            <a:endParaRPr lang="en-US" sz="1400" dirty="0"/>
          </a:p>
        </p:txBody>
      </p:sp>
      <p:sp>
        <p:nvSpPr>
          <p:cNvPr id="11" name="Use case ENTERPRISE"/>
          <p:cNvSpPr/>
          <p:nvPr/>
        </p:nvSpPr>
        <p:spPr>
          <a:xfrm>
            <a:off x="6233008" y="2377440"/>
            <a:ext cx="2567864" cy="3383280"/>
          </a:xfrm>
          <a:prstGeom prst="roundRect">
            <a:avLst>
              <a:gd name="adj" fmla="val 4985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03591" y="2743200"/>
            <a:ext cx="777240" cy="777240"/>
          </a:xfrm>
          <a:prstGeom prst="ellipse">
            <a:avLst/>
          </a:prstGeom>
          <a:solidFill>
            <a:schemeClr val="accent2">
              <a:alpha val="18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7901" y="2937510"/>
            <a:ext cx="388620" cy="3886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53048" y="2880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6553048" y="3749040"/>
            <a:ext cx="1927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الشركات والمؤسسات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6553048" y="4297680"/>
            <a:ext cx="19277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bg2"/>
                </a:solidFill>
              </a:rPr>
              <a:t>لوحة جاهزية تساعد على توجيه ميزانية التدريب نحو الفجوات الفعلية.</a:t>
            </a:r>
            <a:endParaRPr lang="en-US" sz="1400" dirty="0"/>
          </a:p>
        </p:txBody>
      </p:sp>
      <p:sp>
        <p:nvSpPr>
          <p:cNvPr id="17" name="Use case ACADEMIC"/>
          <p:cNvSpPr/>
          <p:nvPr/>
        </p:nvSpPr>
        <p:spPr>
          <a:xfrm>
            <a:off x="3390824" y="2377440"/>
            <a:ext cx="2567864" cy="3383280"/>
          </a:xfrm>
          <a:prstGeom prst="roundRect">
            <a:avLst>
              <a:gd name="adj" fmla="val 4985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861408" y="2743200"/>
            <a:ext cx="777240" cy="777240"/>
          </a:xfrm>
          <a:prstGeom prst="ellipse">
            <a:avLst/>
          </a:prstGeom>
          <a:solidFill>
            <a:schemeClr val="accent3">
              <a:alpha val="18000"/>
            </a:schemeClr>
          </a:solidFill>
          <a:ln w="12700">
            <a:solidFill>
              <a:schemeClr val="accent3">
                <a:alpha val="55000"/>
              </a:scheme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5718" y="2937510"/>
            <a:ext cx="388620" cy="3886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710864" y="2880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3710864" y="3749040"/>
            <a:ext cx="1927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الجامعات والكليات</a:t>
            </a:r>
            <a:endParaRPr lang="en-US" sz="1900" dirty="0"/>
          </a:p>
        </p:txBody>
      </p:sp>
      <p:sp>
        <p:nvSpPr>
          <p:cNvPr id="22" name="Text 17"/>
          <p:cNvSpPr txBox="1"/>
          <p:nvPr/>
        </p:nvSpPr>
        <p:spPr>
          <a:xfrm>
            <a:off x="3710864" y="4297680"/>
            <a:ext cx="19277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bg2"/>
                </a:solidFill>
              </a:rPr>
              <a:t>مختبر عملي يكمل المناهج النظرية ويقيس أداء الطالب لا حفظه.</a:t>
            </a:r>
            <a:endParaRPr lang="en-US" sz="1400" dirty="0"/>
          </a:p>
        </p:txBody>
      </p:sp>
      <p:sp>
        <p:nvSpPr>
          <p:cNvPr id="23" name="Use case TRAINING"/>
          <p:cNvSpPr/>
          <p:nvPr/>
        </p:nvSpPr>
        <p:spPr>
          <a:xfrm>
            <a:off x="548640" y="2377440"/>
            <a:ext cx="2567864" cy="3383280"/>
          </a:xfrm>
          <a:prstGeom prst="roundRect">
            <a:avLst>
              <a:gd name="adj" fmla="val 4985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2019224" y="2743200"/>
            <a:ext cx="777240" cy="777240"/>
          </a:xfrm>
          <a:prstGeom prst="ellipse">
            <a:avLst/>
          </a:prstGeom>
          <a:solidFill>
            <a:schemeClr val="accent5">
              <a:alpha val="18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3534" y="2937510"/>
            <a:ext cx="388620" cy="38862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68680" y="2880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868680" y="3749040"/>
            <a:ext cx="1927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جهات التدريب</a:t>
            </a:r>
            <a:endParaRPr lang="en-US" sz="1900" dirty="0"/>
          </a:p>
        </p:txBody>
      </p:sp>
      <p:sp>
        <p:nvSpPr>
          <p:cNvPr id="28" name="Text 22"/>
          <p:cNvSpPr txBox="1"/>
          <p:nvPr/>
        </p:nvSpPr>
        <p:spPr>
          <a:xfrm>
            <a:off x="868680" y="4297680"/>
            <a:ext cx="19277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bg2"/>
                </a:solidFill>
              </a:rPr>
              <a:t>مكوّن عملي قابل للقياس يرفع جودة البرامج والشهادات.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303520" y="64190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6156655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PILOT</a:t>
            </a:r>
            <a:endParaRPr lang="en-US" sz="11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ما نريده من التعاون: تجربة مشتركة، لا مجرد رأي</a:t>
            </a:r>
            <a:endParaRPr lang="en-US" sz="30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1645920" y="1481328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أفضل طريقة لتطوير رصد هي وضعها أمام فريق أمني حقيقي، وقياس أين تصيب وأين تحتاج إلى معايرة.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548354" y="2606040"/>
            <a:ext cx="9094988" cy="914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69022" y="2331720"/>
            <a:ext cx="548640" cy="54864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369022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Pilot step 01"/>
          <p:cNvSpPr/>
          <p:nvPr/>
        </p:nvSpPr>
        <p:spPr>
          <a:xfrm>
            <a:off x="9643628" y="3063240"/>
            <a:ext cx="1999427" cy="1965960"/>
          </a:xfrm>
          <a:prstGeom prst="roundRect">
            <a:avLst>
              <a:gd name="adj" fmla="val 6512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872228" y="3337560"/>
            <a:ext cx="154222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نختار الفريق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872228" y="3840480"/>
            <a:ext cx="154222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bg2"/>
                </a:solidFill>
              </a:rPr>
              <a:t>5–10 محللين أو متدربين بمستويات مختلفة.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95275" y="2331720"/>
            <a:ext cx="548640" cy="54864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95275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Pilot step 02"/>
          <p:cNvSpPr/>
          <p:nvPr/>
        </p:nvSpPr>
        <p:spPr>
          <a:xfrm>
            <a:off x="7369881" y="3063240"/>
            <a:ext cx="1999427" cy="1965960"/>
          </a:xfrm>
          <a:prstGeom prst="roundRect">
            <a:avLst>
              <a:gd name="adj" fmla="val 6512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598481" y="3337560"/>
            <a:ext cx="154222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Baseline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598481" y="3840480"/>
            <a:ext cx="154222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bg2"/>
                </a:solidFill>
              </a:rPr>
              <a:t>جولة أولى تقيس الاستجابة والسلوك والتحقيق.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21528" y="2331720"/>
            <a:ext cx="548640" cy="54864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21528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Pilot step 03"/>
          <p:cNvSpPr/>
          <p:nvPr/>
        </p:nvSpPr>
        <p:spPr>
          <a:xfrm>
            <a:off x="5096134" y="3063240"/>
            <a:ext cx="1999427" cy="1965960"/>
          </a:xfrm>
          <a:prstGeom prst="roundRect">
            <a:avLst>
              <a:gd name="adj" fmla="val 6512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324734" y="3337560"/>
            <a:ext cx="154222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Adaptive Runs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324734" y="3840480"/>
            <a:ext cx="154222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bg2"/>
                </a:solidFill>
              </a:rPr>
              <a:t>جولات تتغير حسب نقاط الضعف التي رصدتها المنصة.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547781" y="2331720"/>
            <a:ext cx="548640" cy="54864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47781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Pilot step 04"/>
          <p:cNvSpPr/>
          <p:nvPr/>
        </p:nvSpPr>
        <p:spPr>
          <a:xfrm>
            <a:off x="2822387" y="3063240"/>
            <a:ext cx="1999427" cy="1965960"/>
          </a:xfrm>
          <a:prstGeom prst="roundRect">
            <a:avLst>
              <a:gd name="adj" fmla="val 6512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3050987" y="3337560"/>
            <a:ext cx="154222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Expert Review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3050987" y="3840480"/>
            <a:ext cx="154222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bg2"/>
                </a:solidFill>
              </a:rPr>
              <a:t>خبراؤكم يراجعون واقعية السيناريوهات والقرارات.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274034" y="2331720"/>
            <a:ext cx="548640" cy="54864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274034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Pilot step 05"/>
          <p:cNvSpPr/>
          <p:nvPr/>
        </p:nvSpPr>
        <p:spPr>
          <a:xfrm>
            <a:off x="548640" y="3063240"/>
            <a:ext cx="1999427" cy="1965960"/>
          </a:xfrm>
          <a:prstGeom prst="roundRect">
            <a:avLst>
              <a:gd name="adj" fmla="val 6512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77240" y="3337560"/>
            <a:ext cx="154222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Case Study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3840480"/>
            <a:ext cx="154222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bg2"/>
                </a:solidFill>
              </a:rPr>
              <a:t>نتيجة موثقة: أين تحسن الفريق وما الذي تغير في المنتج.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645920" y="5349240"/>
            <a:ext cx="8899855" cy="64008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645920" y="5349240"/>
            <a:ext cx="8899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الهدف: منصة أقرب للواقع + قياس أكثر صدقًا + دراسة حالة مشتركة تثبت القيمة.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303520" y="64190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6156655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المسار القادم واضح — والشريك يختصر الطريق</a:t>
            </a:r>
            <a:endParaRPr lang="en-US" sz="30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1645920" y="1481328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التطوير التقني مستمر، لكن التعاون مع شركة أمن سيبراني يرفع جودة السيناريوهات والقياس أسرع من أي تطوير معزول.</a:t>
            </a:r>
            <a:endParaRPr lang="en-US" sz="1500" dirty="0"/>
          </a:p>
        </p:txBody>
      </p:sp>
      <p:sp>
        <p:nvSpPr>
          <p:cNvPr id="5" name="Phase CORE READY"/>
          <p:cNvSpPr/>
          <p:nvPr/>
        </p:nvSpPr>
        <p:spPr>
          <a:xfrm>
            <a:off x="8188757" y="2331720"/>
            <a:ext cx="3454298" cy="3794760"/>
          </a:xfrm>
          <a:prstGeom prst="roundRect">
            <a:avLst>
              <a:gd name="adj" fmla="val 3706"/>
            </a:avLst>
          </a:prstGeom>
          <a:solidFill>
            <a:schemeClr val="tx2"/>
          </a:solidFill>
          <a:ln w="12700">
            <a:solidFill>
              <a:schemeClr val="accent1">
                <a:alpha val="60000"/>
              </a:schemeClr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28455" y="2651760"/>
            <a:ext cx="2194560" cy="329184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 w="9525">
            <a:solidFill>
              <a:schemeClr val="accent1">
                <a:alpha val="50000"/>
              </a:scheme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28455" y="26517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READY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508797" y="3154680"/>
            <a:ext cx="2814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اليوم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1194999" y="4169664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508797" y="4069080"/>
            <a:ext cx="2585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خصم متكيّف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194999" y="4626864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508797" y="4526280"/>
            <a:ext cx="2585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ضغط + بصمة سلوكية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1194999" y="5084064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08797" y="4983480"/>
            <a:ext cx="2585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تحقيق + جاهزية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1194999" y="5541264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8797" y="5440680"/>
            <a:ext cx="2585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جاهزية نشر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 flipH="1">
            <a:off x="7877861" y="3474720"/>
            <a:ext cx="274320" cy="914"/>
          </a:xfrm>
          <a:prstGeom prst="line">
            <a:avLst/>
          </a:prstGeom>
          <a:noFill/>
          <a:ln w="158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8" name="Phase PILOT &amp; INTEGRATION"/>
          <p:cNvSpPr/>
          <p:nvPr/>
        </p:nvSpPr>
        <p:spPr>
          <a:xfrm>
            <a:off x="4368698" y="2331720"/>
            <a:ext cx="3454298" cy="3794760"/>
          </a:xfrm>
          <a:prstGeom prst="roundRect">
            <a:avLst>
              <a:gd name="adj" fmla="val 3706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8397" y="2651760"/>
            <a:ext cx="2194560" cy="329184"/>
          </a:xfrm>
          <a:prstGeom prst="roundRect">
            <a:avLst>
              <a:gd name="adj" fmla="val 50000"/>
            </a:avLst>
          </a:prstGeom>
          <a:solidFill>
            <a:schemeClr val="accent2">
              <a:alpha val="15000"/>
            </a:schemeClr>
          </a:solidFill>
          <a:ln w="9525">
            <a:solidFill>
              <a:schemeClr val="accent2">
                <a:alpha val="50000"/>
              </a:scheme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08397" y="26517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&amp; INTEGRATION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688738" y="3154680"/>
            <a:ext cx="2814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3–6 أشهر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7374941" y="4169664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88738" y="4069080"/>
            <a:ext cx="2585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Pilot مشترك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74941" y="4626864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688738" y="4526280"/>
            <a:ext cx="2585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سيناريوهات أعمق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74941" y="5084064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688738" y="4983480"/>
            <a:ext cx="2585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SSO / LMS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74941" y="5541264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688738" y="5440680"/>
            <a:ext cx="2585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تقارير وأدوات مدرب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 flipH="1">
            <a:off x="4057802" y="3474720"/>
            <a:ext cx="274320" cy="914"/>
          </a:xfrm>
          <a:prstGeom prst="line">
            <a:avLst/>
          </a:prstGeom>
          <a:noFill/>
          <a:ln w="158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31" name="Phase SCALE"/>
          <p:cNvSpPr/>
          <p:nvPr/>
        </p:nvSpPr>
        <p:spPr>
          <a:xfrm>
            <a:off x="548640" y="2331720"/>
            <a:ext cx="3454298" cy="3794760"/>
          </a:xfrm>
          <a:prstGeom prst="roundRect">
            <a:avLst>
              <a:gd name="adj" fmla="val 3706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488338" y="2651760"/>
            <a:ext cx="219456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5000"/>
            </a:schemeClr>
          </a:solidFill>
          <a:ln w="952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488338" y="26517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868680" y="3154680"/>
            <a:ext cx="2814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6–12 شهرًا</a:t>
            </a:r>
            <a:endParaRPr lang="en-US" sz="2800" dirty="0"/>
          </a:p>
        </p:txBody>
      </p:sp>
      <p:sp>
        <p:nvSpPr>
          <p:cNvPr id="35" name="Shape 33"/>
          <p:cNvSpPr/>
          <p:nvPr/>
        </p:nvSpPr>
        <p:spPr>
          <a:xfrm>
            <a:off x="3554882" y="4169664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68680" y="4069080"/>
            <a:ext cx="2585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مكتبة قطاعية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554882" y="4626864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68680" y="4526280"/>
            <a:ext cx="2585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لوحة مؤسسية متعددة الفرق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554882" y="5084064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68680" y="4983480"/>
            <a:ext cx="2585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مسارات تعلم وشهادات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554882" y="5541264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68680" y="5440680"/>
            <a:ext cx="2585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توسع مؤسسي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303520" y="64190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adar motif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60120"/>
            <a:ext cx="4206240" cy="4206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303520" y="1234440"/>
            <a:ext cx="6339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754880" y="1600200"/>
            <a:ext cx="6888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نبحث عن شريك تقني، لا مجرد مستخدم.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303520" y="2697480"/>
            <a:ext cx="6339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chemeClr val="bg2"/>
                </a:solidFill>
              </a:rPr>
              <a:t>نريد اختبار رصد سايبر مع خبرائكم، معايرة السيناريوهات والقياس على واقع العمليات، ثم تحويل النتائج إلى Pilot موثّق يمكن البناء عليه.</a:t>
            </a:r>
            <a:endParaRPr lang="en-US" sz="1700" dirty="0"/>
          </a:p>
        </p:txBody>
      </p:sp>
      <p:sp>
        <p:nvSpPr>
          <p:cNvPr id="6" name="CTA"/>
          <p:cNvSpPr/>
          <p:nvPr/>
        </p:nvSpPr>
        <p:spPr>
          <a:xfrm>
            <a:off x="8351215" y="4114800"/>
            <a:ext cx="3291840" cy="7315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279400" dist="50800" dir="5400000">
              <a:srgbClr val="20E2A2">
                <a:alpha val="4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351215" y="41148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نبدأ Pilot مشترك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7985455" y="53492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رصد سايبر</a:t>
            </a:r>
            <a:endParaRPr lang="en-US" sz="1400" dirty="0"/>
          </a:p>
          <a:p>
            <a:pPr algn="r"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Rasd Cyber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303520" y="64190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sd Cyber">
  <a:themeElements>
    <a:clrScheme name="Rasd Cyber">
      <a:dk1>
        <a:srgbClr val="07111F"/>
      </a:dk1>
      <a:lt1>
        <a:srgbClr val="F4F8FB"/>
      </a:lt1>
      <a:dk2>
        <a:srgbClr val="0D1D2E"/>
      </a:dk2>
      <a:lt2>
        <a:srgbClr val="8FA3B8"/>
      </a:lt2>
      <a:accent1>
        <a:srgbClr val="20E2A2"/>
      </a:accent1>
      <a:accent2>
        <a:srgbClr val="5B9BFF"/>
      </a:accent2>
      <a:accent3>
        <a:srgbClr val="F5B84B"/>
      </a:accent3>
      <a:accent4>
        <a:srgbClr val="FF5C6C"/>
      </a:accent4>
      <a:accent5>
        <a:srgbClr val="2EC8D8"/>
      </a:accent5>
      <a:accent6>
        <a:srgbClr val="1E3A52"/>
      </a:accent6>
      <a:hlink>
        <a:srgbClr val="20E2A2"/>
      </a:hlink>
      <a:folHlink>
        <a:srgbClr val="2EC8D8"/>
      </a:folHlink>
    </a:clrScheme>
    <a:fontScheme name="Rasd Cyber">
      <a:majorFont>
        <a:latin typeface="Noto Sans Arab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Arab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Rasd Cyber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Rasd Cyber — Partnership Brief</dc:title>
  <dc:subject>PptxGenJS Presentation</dc:subject>
  <dc:creator>PptxGenJS</dc:creator>
  <cp:lastModifiedBy>PptxGenJS</cp:lastModifiedBy>
  <cp:revision>1</cp:revision>
  <dcterms:created xsi:type="dcterms:W3CDTF">2026-10-27T09:16:14Z</dcterms:created>
  <dcterms:modified xsi:type="dcterms:W3CDTF">2026-10-27T09:16:14Z</dcterms:modified>
</cp:coreProperties>
</file>